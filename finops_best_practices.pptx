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FinOps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78D4"/>
                </a:solidFill>
              </a:defRPr>
            </a:pPr>
            <a:r>
              <a:t>Industry Best Practices Powered by CloudHealth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"</a:t>
            </a:r>
            <a:r>
              <a:rPr sz="1600">
                <a:solidFill>
                  <a:srgbClr val="0078D4"/>
                </a:solidFill>
              </a:rPr>
              <a:t>FinOps</a:t>
            </a:r>
            <a:r>
              <a:rPr sz="1600"/>
              <a:t> isn't just about saving money - it's about </a:t>
            </a:r>
            <a:r>
              <a:rPr sz="1600">
                <a:solidFill>
                  <a:srgbClr val="0078D4"/>
                </a:solidFill>
              </a:rPr>
              <a:t>maximizing business value through disciplined, data-driven decision-making.</a:t>
            </a:r>
          </a:p>
          <a:p>
            <a:pPr>
              <a:spcBef>
                <a:spcPts val="2000"/>
              </a:spcBef>
            </a:pPr>
            <a:r>
              <a:rPr sz="1600"/>
              <a:t>Tools like </a:t>
            </a:r>
            <a:r>
              <a:rPr sz="1600">
                <a:solidFill>
                  <a:srgbClr val="0078D4"/>
                </a:solidFill>
              </a:rPr>
              <a:t>CloudHealth</a:t>
            </a:r>
            <a:r>
              <a:rPr sz="1600"/>
              <a:t> transform best practices into operational reality."</a:t>
            </a:r>
          </a:p>
          <a:p>
            <a:pPr>
              <a:spcBef>
                <a:spcPts val="2000"/>
              </a:spcBef>
            </a:pPr>
            <a:r>
              <a:rPr sz="1400" i="1">
                <a:solidFill>
                  <a:srgbClr val="0078D4"/>
                </a:solidFill>
              </a:rPr>
              <a:t>- FinOps Foundation, 2024 State of FinOps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10972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25603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Visibility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3200400"/>
            <a:ext cx="10972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42062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Optimize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846320"/>
            <a:ext cx="10972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58521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Collaborate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200400"/>
            <a:ext cx="10972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Automate</a:t>
            </a:r>
          </a:p>
        </p:txBody>
      </p:sp>
      <p:sp>
        <p:nvSpPr>
          <p:cNvPr id="13" name="Right Arrow 12"/>
          <p:cNvSpPr/>
          <p:nvPr/>
        </p:nvSpPr>
        <p:spPr>
          <a:xfrm rot="2700000">
            <a:off x="9052560" y="2148840"/>
            <a:ext cx="54864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 rot="8100000">
            <a:off x="9784080" y="4160520"/>
            <a:ext cx="54864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 rot="13500000">
            <a:off x="7772400" y="4892040"/>
            <a:ext cx="54864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 rot="18900000">
            <a:off x="7040880" y="2880360"/>
            <a:ext cx="54864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ARROW | CloudHealth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10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!-- Emphasis animation for cloud shape -->
                              <p:par>
                                <p:cTn id="13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8D4"/>
                                      </p:to>
                                    </p:animClr>
                                  </p:childTnLst>
                                </p:cTn>
                              </p:par>
                              <!-- Scale animation for emphasis --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!-- Bold text animation for label -->
                              <p:par>
                                <p:cTn id="17" presetID="1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8D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  <p:cond evt="onBegin" delay="0">
                          <p:tn val="30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!-- Emphasis animation for cloud shape -->
                              <p:par>
                                <p:cTn id="33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8D4"/>
                                      </p:to>
                                    </p:animClr>
                                  </p:childTnLst>
                                </p:cTn>
                              </p:par>
                              <!-- Scale animation for emphasis -->
                              <p:par>
                                <p:cTn id="3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!-- Bold text animation for label -->
                              <p:par>
                                <p:cTn id="37" presetID="1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8D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50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!-- Emphasis animation for cloud shape -->
                              <p:par>
                                <p:cTn id="53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8D4"/>
                                      </p:to>
                                    </p:animClr>
                                  </p:childTnLst>
                                </p:cTn>
                              </p:par>
                              <!-- Scale animation for emphasis -->
                              <p:par>
                                <p:cTn id="5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!-- Bold text animation for label -->
                              <p:par>
                                <p:cTn id="57" presetID="1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8D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70"/>
                        </p:cond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!-- Emphasis animation for cloud shape -->
                              <p:par>
                                <p:cTn id="73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8D4"/>
                                      </p:to>
                                    </p:animClr>
                                  </p:childTnLst>
                                </p:cTn>
                              </p:par>
                              <!-- Scale animation for emphasis -->
                              <p:par>
                                <p:cTn id="7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!-- Bold text animation for label -->
                              <p:par>
                                <p:cTn id="77" presetID="1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8D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